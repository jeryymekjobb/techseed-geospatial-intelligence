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Presentationen sammanfattar arbetet i repot techseed-geospatial-intelligence: en webbapplikation som spelar upp skogsbranden i Västmanland 2014 med satellitdetektioner, väder och en spridningsprognos.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Applikationen består av en backend och ett GUI. Allt bygger på historiska data från 2014 som spelas upp, inte på levande dataflöden.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Varje datakälla har ett eget hämtningsskript. Resultatet ligger i repot med källa, licens och kontrollsummor. Backend läser filerna och GUI:t hämtar allt via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Alla lager följer uppspelningens klocka. GUI:t är märkt "Historiska data 2014 – uppspelning, inte live", och prognosen har en egen varning om osäkerhet.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Skärmbilder från GUI:t: prognosen vid satellitpassagen 4 augusti 2014 kl. 15:09 svensk tid, och vindpilarna 31 juli 2014 kl. 15:00 svensk tid, strax efter brandstarten. Kartan: © OpenStreetMap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FIRMS-uttagen är nummer 816007 (MODIS C6.1) och 816008 (VIIRS S-NPP C2). Varje datakatalog har README med källa, licens och kontrollsummor. Källhänvisningarna visas också i kartan.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 startar med ett enda Python-kommando och behöver inga paket. Externa paket används bara för att hämta ERA5-Land och för att spela in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FWI-beräkningen ger exakt referensfallet i Van Wagner och Pickett (1985). FBP C-2 antas för all mark, vilket är en förenkling. Kalibreringen begränsas till faktor 0,1–10.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GUI:t visar prognosen från den senaste passagen före uppspelningens klocka. Exakta ankomsttider visas inte, bara spann från dubbel till halv fart.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 svag vind och nattetid var riktningsfelet i median 71°. Prognosytan blev två till fyra gånger större än den yta som brann. Den 4 augusti var modellen för långsam även efter kalibrering.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ERA5-Land gav måttlig torka (BUI 31–43) medan Sala A gav extrem torka (BUI 78–97). Skillnaden mellan väderkällorna var större än skillnaden mellan prognosväder och facit.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Prognosen är en teknisk demonstration. Den är inte en bedömning av hur branden hanterades, och den är inte avsedd som beslutsunderlag.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Ordningen är inte fastställd. Lantmäteriet och offlinekartor är förutsättningar för mässan, de andra förbättrar innehållet.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Kommandona körs från repots rot. Inspelningen kräver Playwright i .venv, och MP4 kräver ffmpeg.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905000"/>
            <a:ext cx="1056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08A4B"/>
                </a:solidFill>
                <a:latin typeface="Arial"/>
              </a:rPr>
              <a:t>TECHSEED GEOSPATIAL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286000"/>
            <a:ext cx="105664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6F3EE"/>
                </a:solidFill>
                <a:latin typeface="Arial"/>
              </a:rPr>
              <a:t>Brandkartan: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6F3EE"/>
                </a:solidFill>
                <a:latin typeface="Arial"/>
              </a:rPr>
              <a:t>Västmanland 2014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64000"/>
            <a:ext cx="825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D2DC"/>
                </a:solidFill>
                <a:latin typeface="Arial"/>
              </a:rPr>
              <a:t>Vad som är byggt, vilka tekniker och modeller som används och var datan kommer ifrån.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032500"/>
            <a:ext cx="10160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1 oktober 2026 · Historiska data från 2014, uppspelning – inte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ÖVERSIKT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En webbapplikation i två delar spelar upp branden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3384550" cy="3556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2978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Del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578100"/>
            <a:ext cx="29781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0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84500"/>
            <a:ext cx="297815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A4350"/>
                </a:solidFill>
                <a:latin typeface="Arial"/>
              </a:rPr>
              <a:t>Python med bara standardbiblioteket. Läser FIRMS-detektionerna för branden och skickar dem till GUI:t i komprimerad tid. Serverar väder, vindfält, terräng och prognos. Proxy för Lantmäteriet är förberedd.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095500"/>
            <a:ext cx="3384550" cy="3556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3750" y="2298700"/>
            <a:ext cx="2978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Del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3750" y="2578100"/>
            <a:ext cx="29781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0"/>
                </a:solidFill>
                <a:latin typeface="Arial"/>
              </a:rPr>
              <a:t>GUI i webbläsaren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3750" y="2984500"/>
            <a:ext cx="297815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A4350"/>
                </a:solidFill>
                <a:latin typeface="Arial"/>
              </a:rPr>
              <a:t>Leaflet-karta över brandområdet med terräng, hotspots, väder, vindpilar och spridningsprognos. Uppspelning med paus och hastighet. Tydligt märkt som historiska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095500"/>
            <a:ext cx="3384550" cy="355600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500" y="2298700"/>
            <a:ext cx="29781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9F"/>
                </a:solidFill>
                <a:latin typeface="Arial"/>
              </a:rPr>
              <a:t>Runt omkring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2578100"/>
            <a:ext cx="29781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2430"/>
                </a:solidFill>
                <a:latin typeface="Arial"/>
              </a:rPr>
              <a:t>Data och analys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2984500"/>
            <a:ext cx="297815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A4350"/>
                </a:solidFill>
                <a:latin typeface="Arial"/>
              </a:rPr>
              <a:t>Hämtningsskript för alla datakällor, en spridningsmodell med efterhandstest och rapport, och inspelning av uppspelningen till video.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ARKITEKTUR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Från datakälla till karta i fem 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10566400" cy="660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2095500"/>
            <a:ext cx="228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8441A"/>
                </a:solidFill>
                <a:latin typeface="Arial"/>
              </a:rPr>
              <a:t>1 · Datakällor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2000" y="2095500"/>
            <a:ext cx="7937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NASA FIRMS · SMHI · Copernicus ERA5-Land · OpenStreetMap · Lantmäteriet (förberett)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2844800"/>
            <a:ext cx="10566400" cy="660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2844800"/>
            <a:ext cx="228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8441A"/>
                </a:solidFill>
                <a:latin typeface="Arial"/>
              </a:rPr>
              <a:t>2 · Hämtning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2000" y="2844800"/>
            <a:ext cx="7937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A4350"/>
                </a:solidFill>
                <a:latin typeface="Courier New"/>
              </a:rPr>
              <a:t>tools/: firms_extract · fetch_smhi_weather · fetch_era5_land · fetch_osm_*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594100"/>
            <a:ext cx="10566400" cy="660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600" y="3594100"/>
            <a:ext cx="228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8441A"/>
                </a:solidFill>
                <a:latin typeface="Arial"/>
              </a:rPr>
              <a:t>3 · Data i repot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3594100"/>
            <a:ext cx="7937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A4350"/>
                </a:solidFill>
                <a:latin typeface="Courier New"/>
              </a:rPr>
              <a:t>satellite_data/ · weather_data/ · osm_data/ · app/layers/ – med README och SHA256SUMS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343400"/>
            <a:ext cx="10566400" cy="660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4343400"/>
            <a:ext cx="228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8441A"/>
                </a:solidFill>
                <a:latin typeface="Arial"/>
              </a:rPr>
              <a:t>4 ·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2000" y="4343400"/>
            <a:ext cx="7937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A4350"/>
                </a:solidFill>
                <a:latin typeface="Courier New"/>
              </a:rPr>
              <a:t>/api/hotspots · /api/stream · /api/weather · /api/wind · /api/forecast · /lm/…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5092700"/>
            <a:ext cx="10566400" cy="6604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5092700"/>
            <a:ext cx="228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08A4B"/>
                </a:solidFill>
                <a:latin typeface="Arial"/>
              </a:rPr>
              <a:t>5 · GUI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000" y="5092700"/>
            <a:ext cx="7937500" cy="66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6F3EE"/>
                </a:solidFill>
                <a:latin typeface="Arial"/>
              </a:rPr>
              <a:t>Leaflet-karta, panel med uppspelning, väder och prognos, kioskläge och inspelning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GUI:T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Det här visar kartan och panelen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Karta och terräng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616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OpenStreetMap med ortnamn och sjöar, och 7 499 terrängytor: skog, myr, åker och 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2500" y="2095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5700" y="2298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Hotspots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700" y="2616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1 727 FIRMS-detektioner. Färg efter ålder, storlek efter strålningseffekt.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95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5400" y="2298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Uppspelning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5400" y="2616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31 juli–15 augusti, 30 minuter till 12 timmar per sekund, med tidslinje per dygn.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900" y="2095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5100" y="2298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Väder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5100" y="2616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SMHI Sala A och Kloten A varje timme: temperatur, fukt, vind, byvind och regn.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000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4203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Vindpilar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521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ERA5-Land i 40 punkter. Pilen pekar dit vinden blåser, streck visar styrkan.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4000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5700" y="4203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Prognos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700" y="4521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Front, observerad spridning och prognosyta med spann. Orter med tidsspann.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000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5400" y="4203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Kioskläge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400" y="4521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Adressparametrar för starttid, autostart, hastighet och prognoshorisont.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1900" y="4000500"/>
            <a:ext cx="252730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5100" y="4203700"/>
            <a:ext cx="21209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Inspelning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5100" y="4521200"/>
            <a:ext cx="21209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Dold Chrome spelar in uppspelningen till WebM och, med ffmpeg, MP4.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8A4B"/>
                </a:solidFill>
                <a:latin typeface="Arial"/>
              </a:rPr>
              <a:t>SÅ SER DET 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6F3EE"/>
                </a:solidFill>
                <a:latin typeface="Arial"/>
              </a:rPr>
              <a:t>Prognos 4 augusti och vindpilar 31 juli</a:t>
            </a:r>
          </a:p>
        </p:txBody>
      </p:sp>
      <p:pic>
        <p:nvPicPr>
          <p:cNvPr id="4" name="Picture 3" descr="gui-foreca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95500"/>
            <a:ext cx="4364181" cy="3429000"/>
          </a:xfrm>
          <a:prstGeom prst="rect">
            <a:avLst/>
          </a:prstGeom>
        </p:spPr>
      </p:pic>
      <p:pic>
        <p:nvPicPr>
          <p:cNvPr id="5" name="Picture 4" descr="gui-win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2095500"/>
            <a:ext cx="4800599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5664200"/>
            <a:ext cx="5181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2DC"/>
                </a:solidFill>
                <a:latin typeface="Arial"/>
              </a:rPr>
              <a:t>4 aug kl. 15:30: prognos 6 h, observerat 1,13 km/h mot 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5664200"/>
            <a:ext cx="5181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2DC"/>
                </a:solidFill>
                <a:latin typeface="Arial"/>
              </a:rPr>
              <a:t>31 juli kl. 15:00: vindpilar från ERA5-Land, vind från 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F9BA8"/>
                </a:solidFill>
                <a:latin typeface="Arial"/>
              </a:rPr>
              <a:t>Techseed Geospatial Intelligence · Brandkartan · 5 · Karta © OpenStreetMap contributors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DATAKÄLLOR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Öppna data från fem källor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80"/>
                <a:gridCol w="3169920"/>
                <a:gridCol w="3381248"/>
                <a:gridCol w="1901952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Källa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Upplösning och period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Licens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Branddetektioner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NASA FIRMS, MODIS och VIIRS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1 km och 375 m, sommaren 2014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NASA öppna data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Stationsväder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SMHI, Sala A och Kloten A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varje timme, 1 maj–14 aug 2014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CC BY 4.0 SE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Modellväder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Copernicus, ERA5-Land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0,1°, varje timme, 1 maj–14 aug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CC BY 4.0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Bakgrundskarta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OpenStreetMap, kartrutor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hämtas live i webbläsaren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ODbL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Terräng och mål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OpenStreetMap, Overpass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dagens läge, hämtat 1 okt 2026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ODbL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Topowebb, fastigheter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Lantmäteriet, Geotorget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förberett, inte aktiverat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CC0 och öppna data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397500"/>
            <a:ext cx="10566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Dessutom: MSB:s olycksutredning (Dnr 2014/336) för tidslinjen och instruktioner för Landsat 8-bilden från 4 augusti 2014, som ännu inte är ett lager.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TEKNIKER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Få beroenden, och bara där de behövs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3683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495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441A"/>
                </a:solidFill>
                <a:latin typeface="Arial"/>
              </a:rPr>
              <a:t>I applikationen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794000"/>
            <a:ext cx="46736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Python 3, bara standardbiblioteket: http.server och Server-Sent Events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Leaflet 1.9.4 som kopia i repot, kontrollerad mot npm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HTML, CSS och JavaScript utan ramverk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SVG för vindpilar och spridningspilar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095500"/>
            <a:ext cx="5181600" cy="3683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1600" y="23495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F9F"/>
                </a:solidFill>
                <a:latin typeface="Arial"/>
              </a:rPr>
              <a:t>För data, test och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794000"/>
            <a:ext cx="46736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Overpass API och SMHI:s API med standardbiblioteket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cdsapi och netCDF4 för ERA5-Land, i en egen virtuell miljö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pytest och Node.js: 47 tester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Playwright med Google Chrome för inspelning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python-pptx för den här presentationen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MODELLER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Etablerade brandmodeller, kalibrerade mot satelliterna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936"/>
                <a:gridCol w="5494528"/>
                <a:gridCol w="2535936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Modell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Vad den gör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6F3EE"/>
                          </a:solidFill>
                          <a:latin typeface="Arial"/>
                        </a:rPr>
                        <a:t>Källa</a:t>
                      </a:r>
                    </a:p>
                  </a:txBody>
                  <a:tcPr marL="101600" marR="101600" marT="50800" marB="50800">
                    <a:solidFill>
                      <a:srgbClr val="1B243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Fire Weather Index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Brandrisk och torka ur temperatur, fukt, vind och regn; timvis fukt i finbränslet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Van Wagner 1987, 1977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FBP C-2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Spridningshastighet för boreal barrskog ur ISI och BUI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Forestry Canada 1992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Elliptisk spridning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Formen ur vindhastigheten; fronten växer timme för timme från höljets hörn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FBP, Huygens princip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Kalibrering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Modellens hastighet skalas mot observerad spridning de senaste 24 timmarna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Egen metod</a:t>
                      </a:r>
                    </a:p>
                  </a:txBody>
                  <a:tcPr marL="101600" marR="101600" marT="50800" marB="50800">
                    <a:solidFill>
                      <a:srgbClr val="F3EEE6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Härledningar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Relativ fukt, regn per timme, vindriktning ur u och v, vindhullingar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Arial"/>
                        </a:rPr>
                        <a:t>Standardformler</a:t>
                      </a:r>
                    </a:p>
                  </a:txBody>
                  <a:tcPr marL="101600" marR="101600" marT="50800" marB="50800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PROGNOSEN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En ny prognos vid varje satellitpassage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1993900" cy="2921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095500"/>
            <a:ext cx="1993900" cy="50800"/>
          </a:xfrm>
          <a:prstGeom prst="rect">
            <a:avLst/>
          </a:prstGeom>
          <a:solidFill>
            <a:srgbClr val="B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2324100"/>
            <a:ext cx="16383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8441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857500"/>
            <a:ext cx="1638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Passage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213100"/>
            <a:ext cx="16383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MODIS eller VIIRS ser branden, 4–8 gånger per dygn.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9100" y="2095500"/>
            <a:ext cx="1993900" cy="2921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59100" y="2095500"/>
            <a:ext cx="1993900" cy="50800"/>
          </a:xfrm>
          <a:prstGeom prst="rect">
            <a:avLst/>
          </a:prstGeom>
          <a:solidFill>
            <a:srgbClr val="B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900" y="2324100"/>
            <a:ext cx="16383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8441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900" y="2857500"/>
            <a:ext cx="1638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900" y="3213100"/>
            <a:ext cx="16383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Höljet kring alla detektioner hittills.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5400" y="2095500"/>
            <a:ext cx="1993900" cy="2921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5400" y="2095500"/>
            <a:ext cx="1993900" cy="50800"/>
          </a:xfrm>
          <a:prstGeom prst="rect">
            <a:avLst/>
          </a:prstGeom>
          <a:solidFill>
            <a:srgbClr val="B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3200" y="2324100"/>
            <a:ext cx="16383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8441A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3200" y="2857500"/>
            <a:ext cx="1638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Observerat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3213100"/>
            <a:ext cx="16383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Fart och riktning sedan förra passagen.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1700" y="2095500"/>
            <a:ext cx="1993900" cy="29210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51700" y="2095500"/>
            <a:ext cx="1993900" cy="50800"/>
          </a:xfrm>
          <a:prstGeom prst="rect">
            <a:avLst/>
          </a:prstGeom>
          <a:solidFill>
            <a:srgbClr val="B84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0" y="2324100"/>
            <a:ext cx="16383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8441A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0" y="2857500"/>
            <a:ext cx="1638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Modell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0" y="3213100"/>
            <a:ext cx="16383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4350"/>
                </a:solidFill>
                <a:latin typeface="Arial"/>
              </a:rPr>
              <a:t>FWI från SMHI, rådande väder, kalibrerad fart.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8000" y="2095500"/>
            <a:ext cx="1993900" cy="2921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98000" y="2095500"/>
            <a:ext cx="1993900" cy="5080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5800" y="2324100"/>
            <a:ext cx="16383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08A4B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5800" y="2857500"/>
            <a:ext cx="1638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6F3EE"/>
                </a:solidFill>
                <a:latin typeface="Arial"/>
              </a:rPr>
              <a:t>Prognos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5800" y="3213100"/>
            <a:ext cx="16383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2DC"/>
                </a:solidFill>
                <a:latin typeface="Arial"/>
              </a:rPr>
              <a:t>3–24 timmar: halva, troliga och dubbla farten. Orter med tidsspann.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5334000"/>
            <a:ext cx="10566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Aldrig framåt i tiden: </a:t>
            </a:r>
            <a:r>
              <a:rPr sz="1500" b="0">
                <a:solidFill>
                  <a:srgbClr val="1B2430"/>
                </a:solidFill>
                <a:latin typeface="Arial"/>
              </a:rPr>
              <a:t>varje prognos använder bara data fram till sin passage.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8A4B"/>
                </a:solidFill>
                <a:latin typeface="Arial"/>
              </a:rPr>
              <a:t>EFTERHANDSTEST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6F3EE"/>
                </a:solidFill>
                <a:latin typeface="Arial"/>
              </a:rPr>
              <a:t>Riktningen håller, tiden är osäker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159000"/>
            <a:ext cx="2489200" cy="1905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362200"/>
            <a:ext cx="24892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08A4B"/>
                </a:solidFill>
                <a:latin typeface="Arial"/>
              </a:rPr>
              <a:t>10°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175000"/>
            <a:ext cx="248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medianfel i riktning när fronten flyttade sig minst 1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5200" y="2159000"/>
            <a:ext cx="2489200" cy="1905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200" y="2362200"/>
            <a:ext cx="24892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08A4B"/>
                </a:solidFill>
                <a:latin typeface="Arial"/>
              </a:rPr>
              <a:t>≈ 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200" y="3175000"/>
            <a:ext cx="248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modellens fart mot den observerade, i median, med SMHI-väder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7600" y="2159000"/>
            <a:ext cx="2489200" cy="1905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7600" y="2362200"/>
            <a:ext cx="24892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08A4B"/>
                </a:solidFill>
                <a:latin typeface="Arial"/>
              </a:rPr>
              <a:t>13–15 %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7600" y="3175000"/>
            <a:ext cx="248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troligt värde inom satelliternas observationsfönster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0000" y="2159000"/>
            <a:ext cx="2489200" cy="19050"/>
          </a:xfrm>
          <a:prstGeom prst="rect">
            <a:avLst/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0" y="2362200"/>
            <a:ext cx="24892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08A4B"/>
                </a:solidFill>
                <a:latin typeface="Arial"/>
              </a:rPr>
              <a:t>60–66 %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0" y="3175000"/>
            <a:ext cx="248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spannet halva–dubbla farten överlappar fönstret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826000"/>
            <a:ext cx="105664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C9D2DC"/>
                </a:solidFill>
                <a:latin typeface="Arial"/>
              </a:rPr>
              <a:t>38 prognoser, en per satellitpassage, jämförda med senare detektioner och med när orter, byggnader, vägar och järnväg nåddes.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F9BA8"/>
                </a:solidFill>
                <a:latin typeface="Arial"/>
              </a:rPr>
              <a:t>Techseed Geospatial Intelligence · Brandkartan · 10 · Rapport: reports/2026-10-01-brandspridningsanalys-vastmanland-2014-claude-opus-5-5.md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4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270000"/>
            <a:ext cx="1056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BF4EE"/>
                </a:solidFill>
                <a:latin typeface="Arial"/>
              </a:rPr>
              <a:t>VIKTIGASTE LÄRDOMEN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651000"/>
            <a:ext cx="9525000" cy="146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BF4EE"/>
                </a:solidFill>
                <a:latin typeface="Arial"/>
              </a:rPr>
              <a:t>Vädret som går in i modellen avgör mer än modellen själv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810000"/>
            <a:ext cx="444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BF4EE"/>
                </a:solidFill>
                <a:latin typeface="Arial"/>
              </a:rPr>
              <a:t>FWI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572000"/>
            <a:ext cx="444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F4EE"/>
                </a:solidFill>
                <a:latin typeface="Arial"/>
              </a:rPr>
              <a:t>4 augusti med SMHI:s mätningar i 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8800" y="3810000"/>
            <a:ext cx="444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BF4EE"/>
                </a:solidFill>
                <a:latin typeface="Arial"/>
              </a:rPr>
              <a:t>FWI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800" y="4572000"/>
            <a:ext cx="444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F4EE"/>
                </a:solidFill>
                <a:latin typeface="Arial"/>
              </a:rPr>
              <a:t>samma dag med ERA5-Land, som gav regn som stationen inte mätte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BEGRÄNSNINGAR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Det här ska publiken veta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5181600" cy="28575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3495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441A"/>
                </a:solidFill>
                <a:latin typeface="Arial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794000"/>
            <a:ext cx="46736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Satelliterna ser branden 4–8 gånger per dygn, med luckor på upp till 6–8 timmar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Detektionerna täcker inte allt som brann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Terräng och mål är dagens OSM, inte 2014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2095500"/>
            <a:ext cx="5181600" cy="28575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1600" y="23495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441A"/>
                </a:solidFill>
                <a:latin typeface="Arial"/>
              </a:rPr>
              <a:t>Modell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794000"/>
            <a:ext cx="46736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All mark behandlas som barrskog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Flygbränder, släckinsatser och brandens eget väder finns inte med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3A4350"/>
                </a:solidFill>
                <a:latin typeface="Arial"/>
              </a:rPr>
              <a:t>• Svag stationsvind ger en nästan rund prognosyta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5207000"/>
            <a:ext cx="10566400" cy="482600"/>
          </a:xfrm>
          <a:prstGeom prst="roundRect">
            <a:avLst>
              <a:gd name="adj" fmla="val 6000"/>
            </a:avLst>
          </a:prstGeom>
          <a:solidFill>
            <a:srgbClr val="F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600" y="5207000"/>
            <a:ext cx="10223500" cy="482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A2A10"/>
                </a:solidFill>
                <a:latin typeface="Arial"/>
              </a:rPr>
              <a:t>I GUI:t: "Modellprognos med stor osäkerhet – inte beslutsunderlag"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441A"/>
                </a:solidFill>
                <a:latin typeface="Arial"/>
              </a:rPr>
              <a:t>NÄSTA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430"/>
                </a:solidFill>
                <a:latin typeface="Arial"/>
              </a:rPr>
              <a:t>Förslag inför mässan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98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Lantmäteriet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616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Beställa åtkomst via Geotorget och aktivera topowebb och fastighetsgränser.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7850" y="2095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1050" y="2298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1050" y="2616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Egna kartrutor ur OSM-data, så att demon fungerar utan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2900" y="2095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6100" y="2298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Prognosens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6100" y="2616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ERA5-Lands vind för formen, med nytt efterhandstest.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000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000" y="4203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Bättre facit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521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Kartlagd brandgräns, till exempel från EFFIS, i stället för detektioner.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7850" y="4000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1050" y="4203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Landsat-lager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1050" y="4521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Satellitbilden från 4 augusti 2014 som eget lager.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2900" y="4000500"/>
            <a:ext cx="3422650" cy="17526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6100" y="4203700"/>
            <a:ext cx="3016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430"/>
                </a:solidFill>
                <a:latin typeface="Arial"/>
              </a:rPr>
              <a:t>One-pagern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6100" y="4521200"/>
            <a:ext cx="301625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A4350"/>
                </a:solidFill>
                <a:latin typeface="Arial"/>
              </a:rPr>
              <a:t>Beslut om interaktion, AI-svar och rättigheter, och scenariot skrivs 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2"/>
                </a:solidFill>
                <a:latin typeface="Arial"/>
              </a:rPr>
              <a:t>Techseed Geospatial Intelligence · Brandkartan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8A4B"/>
                </a:solidFill>
                <a:latin typeface="Arial"/>
              </a:rPr>
              <a:t>KOM IGÅNG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92200"/>
            <a:ext cx="105664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6F3EE"/>
                </a:solidFill>
                <a:latin typeface="Arial"/>
              </a:rPr>
              <a:t>Så kör man brandkartan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095500"/>
            <a:ext cx="1056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Starta och öppna http://127.0.0.1:8765/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374900"/>
            <a:ext cx="10566400" cy="444500"/>
          </a:xfrm>
          <a:prstGeom prst="roundRect">
            <a:avLst>
              <a:gd name="adj" fmla="val 6000"/>
            </a:avLst>
          </a:prstGeom>
          <a:solidFill>
            <a:srgbClr val="26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2374900"/>
            <a:ext cx="10287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F3EE"/>
                </a:solidFill>
                <a:latin typeface="Courier New"/>
              </a:rPr>
              <a:t>python3 -m app.backend.server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048000"/>
            <a:ext cx="1056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Visa läget en viss tid och spela upp därifrån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3327400"/>
            <a:ext cx="10566400" cy="444500"/>
          </a:xfrm>
          <a:prstGeom prst="roundRect">
            <a:avLst>
              <a:gd name="adj" fmla="val 6000"/>
            </a:avLst>
          </a:prstGeom>
          <a:solidFill>
            <a:srgbClr val="26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200" y="3327400"/>
            <a:ext cx="10287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F3EE"/>
                </a:solidFill>
                <a:latin typeface="Courier New"/>
              </a:rPr>
              <a:t>http://127.0.0.1:8765/?at=2014-08-04T06:00:00Z&amp;autoplay=1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000500"/>
            <a:ext cx="1056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Spela in en film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4279900"/>
            <a:ext cx="10566400" cy="444500"/>
          </a:xfrm>
          <a:prstGeom prst="roundRect">
            <a:avLst>
              <a:gd name="adj" fmla="val 6000"/>
            </a:avLst>
          </a:prstGeom>
          <a:solidFill>
            <a:srgbClr val="26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4279900"/>
            <a:ext cx="10287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F3EE"/>
                </a:solidFill>
                <a:latin typeface="Courier New"/>
              </a:rPr>
              <a:t>.venv/bin/python -m tools.record_demo --start 2014-08-04T06:00:00Z --speed 10800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953000"/>
            <a:ext cx="1056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2DC"/>
                </a:solidFill>
                <a:latin typeface="Arial"/>
              </a:rPr>
              <a:t>Kör testerna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5232400"/>
            <a:ext cx="10566400" cy="444500"/>
          </a:xfrm>
          <a:prstGeom prst="roundRect">
            <a:avLst>
              <a:gd name="adj" fmla="val 6000"/>
            </a:avLst>
          </a:prstGeom>
          <a:solidFill>
            <a:srgbClr val="26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5200" y="5232400"/>
            <a:ext cx="10287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6F3EE"/>
                </a:solidFill>
                <a:latin typeface="Courier New"/>
              </a:rPr>
              <a:t>python3 -m pytest -q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3500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F9BA8"/>
                </a:solidFill>
                <a:latin typeface="Arial"/>
              </a:rPr>
              <a:t>Techseed Geospatial Intelligence · Brandkartan · 14 · Mer i app/README.md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Brandkartan – Västmanland 2014</dc:title>
  <dc:subject>Techseed Geospatial Intelligence: vad som är byggt, tekniker, modeller och datakällor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